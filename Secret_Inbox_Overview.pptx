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5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450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A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4754880" cy="4754880"/>
          </a:xfrm>
          <a:prstGeom prst="ellipse">
            <a:avLst/>
          </a:prstGeom>
          <a:solidFill>
            <a:srgbClr val="C75D3C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2240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INBOX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Anonymous Feedback, Reimagined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shipped, the API surface, the system underneath, and what's next.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BUILD  ·  SDE FUNDAMENTALS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75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· PART 1 OF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6F3EE"/>
          </a:solidFill>
          <a:ln/>
          <a:effectLst>
            <a:outerShdw blurRad="76200" dist="25400" dir="5400000" algn="bl" rotWithShape="0">
              <a:srgbClr val="1C1A17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2020824"/>
            <a:ext cx="530352" cy="530352"/>
          </a:xfrm>
          <a:prstGeom prst="ellipse">
            <a:avLst/>
          </a:prstGeom>
          <a:solidFill>
            <a:srgbClr val="C75D3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0467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2002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Password Login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62432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with a password, then sign in securely.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6F3EE"/>
          </a:solidFill>
          <a:ln/>
          <a:effectLst>
            <a:outerShdw blurRad="76200" dist="25400" dir="5400000" algn="bl" rotWithShape="0">
              <a:srgbClr val="1C1A17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90872" y="2020824"/>
            <a:ext cx="530352" cy="530352"/>
          </a:xfrm>
          <a:prstGeom prst="ellipse">
            <a:avLst/>
          </a:prstGeom>
          <a:solidFill>
            <a:srgbClr val="C75D3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69087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330952" y="2002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Shared Invite Link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262432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link; it survives sign-out. Regenerating it invalidates the old link.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21040" y="178308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6F3EE"/>
          </a:solidFill>
          <a:ln/>
          <a:effectLst>
            <a:outerShdw blurRad="76200" dist="25400" dir="5400000" algn="bl" rotWithShape="0">
              <a:srgbClr val="1C1A17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77072" y="2020824"/>
            <a:ext cx="530352" cy="530352"/>
          </a:xfrm>
          <a:prstGeom prst="ellipse">
            <a:avLst/>
          </a:prstGeom>
          <a:solidFill>
            <a:srgbClr val="C75D3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57707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✉️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217152" y="2002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Guided Submission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77072" y="262432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anonymous messages with prompt categories.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6F3EE"/>
          </a:solidFill>
          <a:ln/>
          <a:effectLst>
            <a:outerShdw blurRad="76200" dist="25400" dir="5400000" algn="bl" rotWithShape="0">
              <a:srgbClr val="1C1A17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4672" y="3666744"/>
            <a:ext cx="530352" cy="530352"/>
          </a:xfrm>
          <a:prstGeom prst="ellipse">
            <a:avLst/>
          </a:prstGeom>
          <a:solidFill>
            <a:srgbClr val="C75D3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804672" y="36667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📥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44752" y="364845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Inbox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27024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every 3 seconds, newest messages first.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34840" y="342900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6F3EE"/>
          </a:solidFill>
          <a:ln/>
          <a:effectLst>
            <a:outerShdw blurRad="76200" dist="25400" dir="5400000" algn="bl" rotWithShape="0">
              <a:srgbClr val="1C1A17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90872" y="3666744"/>
            <a:ext cx="530352" cy="530352"/>
          </a:xfrm>
          <a:prstGeom prst="ellipse">
            <a:avLst/>
          </a:prstGeom>
          <a:solidFill>
            <a:srgbClr val="C75D3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4690872" y="36667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364845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Reactions &amp; Replies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690872" y="427024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with an emoji or send a reply inline.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321040" y="342900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6F3EE"/>
          </a:solidFill>
          <a:ln/>
          <a:effectLst>
            <a:outerShdw blurRad="76200" dist="25400" dir="5400000" algn="bl" rotWithShape="0">
              <a:srgbClr val="1C1A17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577072" y="3666744"/>
            <a:ext cx="530352" cy="530352"/>
          </a:xfrm>
          <a:prstGeom prst="ellipse">
            <a:avLst/>
          </a:prstGeom>
          <a:solidFill>
            <a:srgbClr val="C75D3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8577072" y="36667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🗄️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217152" y="364845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Archive &amp; Restore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577072" y="427024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the inbox without losing anything.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75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· PART 2 OF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Features, continued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611880" cy="3017520"/>
          </a:xfrm>
          <a:prstGeom prst="roundRect">
            <a:avLst>
              <a:gd name="adj" fmla="val 4242"/>
            </a:avLst>
          </a:prstGeom>
          <a:solidFill>
            <a:srgbClr val="1C1A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514600"/>
            <a:ext cx="640080" cy="640080"/>
          </a:xfrm>
          <a:prstGeom prst="ellipse">
            <a:avLst/>
          </a:prstGeom>
          <a:solidFill>
            <a:srgbClr val="C75D3C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🚩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Report &amp; Pause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 abusive message, or pause the inbox so it stops accepting new ones.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611880" cy="3017520"/>
          </a:xfrm>
          <a:prstGeom prst="roundRect">
            <a:avLst>
              <a:gd name="adj" fmla="val 4242"/>
            </a:avLst>
          </a:prstGeom>
          <a:solidFill>
            <a:srgbClr val="1C1A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514600"/>
            <a:ext cx="640080" cy="640080"/>
          </a:xfrm>
          <a:prstGeom prst="ellipse">
            <a:avLst/>
          </a:prstGeom>
          <a:solidFill>
            <a:srgbClr val="C75D3C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7548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🗑️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Delete Account &amp; Data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8404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one message, or confirm to permanently remove your account, messages, and invite links.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194560"/>
            <a:ext cx="3611880" cy="3017520"/>
          </a:xfrm>
          <a:prstGeom prst="roundRect">
            <a:avLst>
              <a:gd name="adj" fmla="val 4242"/>
            </a:avLst>
          </a:prstGeom>
          <a:solidFill>
            <a:srgbClr val="1C1A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41080" y="2514600"/>
            <a:ext cx="640080" cy="640080"/>
          </a:xfrm>
          <a:prstGeom prst="ellipse">
            <a:avLst/>
          </a:prstGeom>
          <a:solidFill>
            <a:srgbClr val="C75D3C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6410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💌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Reply Check &amp; Private Link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8404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replies on-screen, then copy the private link to return later.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75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API Surface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8950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latin typeface="Calibri"/>
                        </a:rPr>
                        <a:t>Service</a:t>
                      </a:r>
                    </a:p>
                  </a:txBody>
                  <a:tcPr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latin typeface="Calibri"/>
                        </a:rPr>
                        <a:t>Method</a:t>
                      </a:r>
                    </a:p>
                  </a:txBody>
                  <a:tcPr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latin typeface="Calibri"/>
                        </a:rPr>
                        <a:t>Endpoint</a:t>
                      </a:r>
                    </a:p>
                  </a:txBody>
                  <a:tcPr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latin typeface="Calibri"/>
                        </a:rPr>
                        <a:t>Purpose</a:t>
                      </a:r>
                    </a:p>
                  </a:txBody>
                  <a:tcPr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user-service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POST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/auth/register · /auth/login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Create an account or sign in with a password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user-service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GET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/users/{user_id}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Read owner profile (token required)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user-service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GET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/users/{user_id}/status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Check whether feedback is open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user-service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PATCH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/users/{user_id}/settings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Pause or resume feedback (owner token)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user-service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DELETE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/users/{user_id}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Remove account and associated inbox data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GET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/invites/{user_id}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Restore saved link (owner token)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POST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/invites/{user_id}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Replace link; invalidate the previous link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DELETE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/accounts/{user_id}/data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Remove account messages and invites (owner token)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POST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/messages/invite/{token}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Submit anonymous notes; active link is reusable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GET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/messages/token/{token}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Check private reply status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GET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/messages/{user_id}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Read inbox (owner token)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message-service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latin typeface="Calibri"/>
                        </a:rPr>
                        <a:t>PATCH · DELETE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onsolas"/>
                        </a:rPr>
                        <a:t>/messages/{message_id}/...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latin typeface="Calibri"/>
                        </a:rPr>
                        <a:t>Manage or permanently delete messages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75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System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1645920"/>
            <a:ext cx="3474720" cy="685800"/>
          </a:xfrm>
          <a:prstGeom prst="roundRect">
            <a:avLst>
              <a:gd name="adj" fmla="val 13333"/>
            </a:avLst>
          </a:prstGeom>
          <a:solidFill>
            <a:srgbClr val="1C1A17"/>
          </a:solidFill>
          <a:ln w="12700">
            <a:solidFill>
              <a:srgbClr val="3A3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143000" y="17373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React Frontend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04825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localhost:5173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97480" y="2359152"/>
            <a:ext cx="320040" cy="292608"/>
          </a:xfrm>
          <a:prstGeom prst="downArrow">
            <a:avLst/>
          </a:prstGeom>
          <a:solidFill>
            <a:srgbClr val="6B65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2F6F6B"/>
          </a:solidFill>
          <a:ln w="12700">
            <a:solidFill>
              <a:srgbClr val="3A3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user-service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998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:8001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17520" y="269748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C75D3C"/>
          </a:solidFill>
          <a:ln w="12700">
            <a:solidFill>
              <a:srgbClr val="3A3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017520" y="2788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message-service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0998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:8002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06040" y="2926080"/>
            <a:ext cx="457200" cy="228600"/>
          </a:xfrm>
          <a:prstGeom prst="leftRightArrow">
            <a:avLst/>
          </a:prstGeom>
          <a:solidFill>
            <a:srgbClr val="6B655C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463040" y="3456432"/>
            <a:ext cx="292608" cy="292608"/>
          </a:xfrm>
          <a:prstGeom prst="downArrow">
            <a:avLst/>
          </a:prstGeom>
          <a:solidFill>
            <a:srgbClr val="6B65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931920" y="3456432"/>
            <a:ext cx="292608" cy="292608"/>
          </a:xfrm>
          <a:prstGeom prst="downArrow">
            <a:avLst/>
          </a:prstGeom>
          <a:solidFill>
            <a:srgbClr val="6B65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822192"/>
            <a:ext cx="2194560" cy="566928"/>
          </a:xfrm>
          <a:prstGeom prst="roundRect">
            <a:avLst>
              <a:gd name="adj" fmla="val 16129"/>
            </a:avLst>
          </a:prstGeom>
          <a:solidFill>
            <a:srgbClr val="F6F3EE"/>
          </a:solidFill>
          <a:ln w="12700">
            <a:solidFill>
              <a:srgbClr val="6B655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48640" y="3895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user.db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1696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5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17520" y="3822192"/>
            <a:ext cx="2194560" cy="566928"/>
          </a:xfrm>
          <a:prstGeom prst="roundRect">
            <a:avLst>
              <a:gd name="adj" fmla="val 16129"/>
            </a:avLst>
          </a:prstGeom>
          <a:solidFill>
            <a:srgbClr val="F6F3EE"/>
          </a:solidFill>
          <a:ln w="12700">
            <a:solidFill>
              <a:srgbClr val="6B655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3017520" y="3895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message.db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41696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5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17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owns a local SQLite database; owner APIs use signed password-authenticated sessions.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1645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75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2057400"/>
            <a:ext cx="365760" cy="365760"/>
          </a:xfrm>
          <a:prstGeom prst="ellipse">
            <a:avLst/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55778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080760" y="2020824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Owner creates and shares an invite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080760" y="2331720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reusable invite; the dashboard restores the saved link after sign-in.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3044952"/>
            <a:ext cx="365760" cy="365760"/>
          </a:xfrm>
          <a:prstGeom prst="ellipse">
            <a:avLst/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57784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080760" y="3008376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Sender submits anonymously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080760" y="331927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is anonymous; generating a replacement invalidates the previous link.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0" y="4032504"/>
            <a:ext cx="365760" cy="365760"/>
          </a:xfrm>
          <a:prstGeom prst="ellipse">
            <a:avLst/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 txBox="1"/>
          <p:nvPr/>
        </p:nvSpPr>
        <p:spPr>
          <a:xfrm>
            <a:off x="557784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080760" y="399592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Persist &amp; return private link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080760" y="430682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saves the note and gives its sender a private reply-check link.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577840" y="5020056"/>
            <a:ext cx="365760" cy="365760"/>
          </a:xfrm>
          <a:prstGeom prst="ellipse">
            <a:avLst/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5577840" y="502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080760" y="49834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Owner and sender follow up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080760" y="5294376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manage feedback; account deletion removes messages and invite links too.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6080760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6F3EE"/>
          </a:solidFill>
          <a:ln w="9525">
            <a:solidFill>
              <a:srgbClr val="6B6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 txBox="1"/>
          <p:nvPr/>
        </p:nvSpPr>
        <p:spPr>
          <a:xfrm>
            <a:off x="548640" y="60807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per service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587752" y="6080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6F3EE"/>
          </a:solidFill>
          <a:ln w="9525">
            <a:solidFill>
              <a:srgbClr val="6B6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 txBox="1"/>
          <p:nvPr/>
        </p:nvSpPr>
        <p:spPr>
          <a:xfrm>
            <a:off x="2587752" y="6080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separation of concerns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04104" y="6080760"/>
            <a:ext cx="1796796" cy="347472"/>
          </a:xfrm>
          <a:prstGeom prst="roundRect">
            <a:avLst>
              <a:gd name="adj" fmla="val 50000"/>
            </a:avLst>
          </a:prstGeom>
          <a:solidFill>
            <a:srgbClr val="F6F3EE"/>
          </a:solidFill>
          <a:ln w="9525">
            <a:solidFill>
              <a:srgbClr val="6B6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 txBox="1"/>
          <p:nvPr/>
        </p:nvSpPr>
        <p:spPr>
          <a:xfrm>
            <a:off x="5404104" y="6080760"/>
            <a:ext cx="1796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REST APIs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65492" y="6080760"/>
            <a:ext cx="2496312" cy="347472"/>
          </a:xfrm>
          <a:prstGeom prst="roundRect">
            <a:avLst>
              <a:gd name="adj" fmla="val 50000"/>
            </a:avLst>
          </a:prstGeom>
          <a:solidFill>
            <a:srgbClr val="F6F3EE"/>
          </a:solidFill>
          <a:ln w="9525">
            <a:solidFill>
              <a:srgbClr val="6B65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 txBox="1"/>
          <p:nvPr/>
        </p:nvSpPr>
        <p:spPr>
          <a:xfrm>
            <a:off x="7365492" y="6080760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development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A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Built, Tested &amp; Ready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Password-protected owner access, anonymous invites, and local-only services.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257800" cy="2834640"/>
          </a:xfrm>
          <a:prstGeom prst="roundRect">
            <a:avLst>
              <a:gd name="adj" fmla="val 4516"/>
            </a:avLst>
          </a:prstGeom>
          <a:solidFill>
            <a:srgbClr val="3A3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2304288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· OLLAMA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2128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dirty="0">
                <a:solidFill>
                  <a:srgbClr val="000000"/>
                </a:solidFill>
              </a:rPr>
              <a:t>🧠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803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Inbox Summaries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832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active inbox messages into a concise overview with themes and standout notes.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2011680"/>
            <a:ext cx="5257800" cy="2834640"/>
          </a:xfrm>
          <a:prstGeom prst="roundRect">
            <a:avLst>
              <a:gd name="adj" fmla="val 4516"/>
            </a:avLst>
          </a:prstGeom>
          <a:solidFill>
            <a:srgbClr val="3A3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675120" y="2304288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67512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· OLLAMA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0" y="22128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dirty="0">
                <a:solidFill>
                  <a:srgbClr val="000000"/>
                </a:solidFill>
              </a:rPr>
              <a:t>✍️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8803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Suggested Replies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3832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6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suggested reply draft that the owner can review and edit before sending.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45931" y="5276088"/>
            <a:ext cx="1034690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1000" dirty="0"/>
          </a:p>
        </p:txBody>
      </p:sp>
      <p:sp>
        <p:nvSpPr>
          <p:cNvPr id="21" name="TextBox 20"/>
          <p:cNvSpPr txBox="1"/>
          <p:nvPr/>
        </p:nvSpPr>
        <p:spPr>
          <a:xfrm>
            <a:off x="658368" y="5001768"/>
            <a:ext cx="4572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F9F3F"/>
                </a:solidFill>
                <a:latin typeface="Calibri"/>
              </a:rPr>
              <a:t>AUTOMATED TEST COVERAGE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85232"/>
            <a:ext cx="2615184" cy="841248"/>
          </a:xfrm>
          <a:prstGeom prst="roundRect">
            <a:avLst/>
          </a:prstGeom>
          <a:solidFill>
            <a:srgbClr val="3A3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5349240"/>
            <a:ext cx="228600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3BD62"/>
                </a:solidFill>
                <a:latin typeface="Bookman Old Style"/>
              </a:rPr>
              <a:t>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760720"/>
            <a:ext cx="2395728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6F3EE"/>
                </a:solidFill>
                <a:latin typeface="Calibri"/>
              </a:rPr>
              <a:t>Frontend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64992" y="5285232"/>
            <a:ext cx="2615184" cy="841248"/>
          </a:xfrm>
          <a:prstGeom prst="roundRect">
            <a:avLst/>
          </a:prstGeom>
          <a:solidFill>
            <a:srgbClr val="3A3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29584" y="5349240"/>
            <a:ext cx="228600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3BD62"/>
                </a:solidFill>
                <a:latin typeface="Bookman Old Style"/>
              </a:rPr>
              <a:t>109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760720"/>
            <a:ext cx="2395728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6F3EE"/>
                </a:solidFill>
                <a:latin typeface="Calibri"/>
              </a:rPr>
              <a:t>Message API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1344" y="5285232"/>
            <a:ext cx="2615184" cy="841248"/>
          </a:xfrm>
          <a:prstGeom prst="roundRect">
            <a:avLst/>
          </a:prstGeom>
          <a:solidFill>
            <a:srgbClr val="3A3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45936" y="5349240"/>
            <a:ext cx="228600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3BD62"/>
                </a:solidFill>
                <a:latin typeface="Bookman Old Style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5760720"/>
            <a:ext cx="2395728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6F3EE"/>
                </a:solidFill>
                <a:latin typeface="Calibri"/>
              </a:rPr>
              <a:t>User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7696" y="5285232"/>
            <a:ext cx="2615184" cy="841248"/>
          </a:xfrm>
          <a:prstGeom prst="roundRect">
            <a:avLst/>
          </a:prstGeom>
          <a:solidFill>
            <a:srgbClr val="3A3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62288" y="5349240"/>
            <a:ext cx="228600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3BD62"/>
                </a:solidFill>
                <a:latin typeface="Bookman Old Style"/>
              </a:rPr>
              <a:t>201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424" y="5760720"/>
            <a:ext cx="2395728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6F3EE"/>
                </a:solidFill>
                <a:latin typeface="Calibri"/>
              </a:rPr>
              <a:t>Total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75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&amp; SDE FUNDAMENTALS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Engineering Principles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19656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Service Layer + Dependency Injection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0370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lives in service classes (UserService, MessageService); FastAPI injects the DB session into thin route handlers.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F6F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9864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Database-per-service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8269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microservice owns its own SQLite store — no shared tables, no shared schema, independent evolution.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C75D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486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7764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Status-driven state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36168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status field (active, archived, reported) models a message's lifecycle, instead of hard deletes.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11149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F6F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5111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0566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A1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Safe Cross-Service Account Deletion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4406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data is removed first. If the message service is unavailable, the account stays intact and deletion can be retried.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5D3C"/>
                </a:solidFill>
                <a:latin typeface="Calibri"/>
              </a:rPr>
              <a:t>PRIVACY &amp; USER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C1A17"/>
                </a:solidFill>
                <a:latin typeface="Bookman Old Style"/>
              </a:rPr>
              <a:t>Privacy by design, with clear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55C"/>
                </a:solidFill>
                <a:latin typeface="Calibri"/>
              </a:rPr>
              <a:t>Owner access is protected; feedback stays anonymous to the owner.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93392"/>
            <a:ext cx="5376672" cy="1481328"/>
          </a:xfrm>
          <a:prstGeom prst="round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48463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75D3C"/>
                </a:solidFill>
                <a:latin typeface="Calibri"/>
              </a:rPr>
              <a:t>OWNER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551176"/>
            <a:ext cx="4828032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A17"/>
                </a:solidFill>
                <a:latin typeface="Calibri"/>
              </a:rPr>
              <a:t>Passwords are stored as salted PBKDF2 hashes. Dashboard APIs require a signed, short-lived owner token.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93392"/>
            <a:ext cx="5376672" cy="1481328"/>
          </a:xfrm>
          <a:prstGeom prst="round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19672" y="2194560"/>
            <a:ext cx="48463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75D3C"/>
                </a:solidFill>
                <a:latin typeface="Calibri"/>
              </a:rPr>
              <a:t>ANONYMOUS SENDING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551176"/>
            <a:ext cx="4828032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A17"/>
                </a:solidFill>
                <a:latin typeface="Calibri"/>
              </a:rPr>
              <a:t>A shared invite accepts feedback without asking senders to create an account or provide their name.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67328"/>
            <a:ext cx="5376672" cy="1481328"/>
          </a:xfrm>
          <a:prstGeom prst="round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968496"/>
            <a:ext cx="48463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75D3C"/>
                </a:solidFill>
                <a:latin typeface="Calibri"/>
              </a:rPr>
              <a:t>OWNER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325112"/>
            <a:ext cx="4828032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A17"/>
                </a:solidFill>
                <a:latin typeface="Calibri"/>
              </a:rPr>
              <a:t>Pause incoming feedback, rotate the invite to invalidate its predecessor, or manage and remove messages.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767328"/>
            <a:ext cx="5376672" cy="1481328"/>
          </a:xfrm>
          <a:prstGeom prst="round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3968496"/>
            <a:ext cx="48463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75D3C"/>
                </a:solidFill>
                <a:latin typeface="Calibri"/>
              </a:rPr>
              <a:t>ACCOUNT DELETION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4325112"/>
            <a:ext cx="4828032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A17"/>
                </a:solidFill>
                <a:latin typeface="Calibri"/>
              </a:rPr>
              <a:t>A confirmed deletion removes messages and invites before deleting the account. If cleanup fails, the account remains retryable.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59552"/>
            <a:ext cx="11064240" cy="530352"/>
          </a:xfrm>
          <a:prstGeom prst="roundRect">
            <a:avLst/>
          </a:prstGeom>
          <a:solidFill>
            <a:srgbClr val="1C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5660136"/>
            <a:ext cx="106527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6F3EE"/>
                </a:solidFill>
                <a:latin typeface="Calibri"/>
              </a:rPr>
              <a:t>LOCAL-ONLY BOUNDARY   Invite and reply-check URLs are bearer links: anyone holding a link can use its intended capability.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55C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cret Inbox">
  <a:themeElements>
    <a:clrScheme name="Secret Inbox">
      <a:dk1>
        <a:srgbClr val="1C1A17"/>
      </a:dk1>
      <a:lt1>
        <a:srgbClr val="FFFFFF"/>
      </a:lt1>
      <a:dk2>
        <a:srgbClr val="3A332B"/>
      </a:dk2>
      <a:lt2>
        <a:srgbClr val="F6F3EE"/>
      </a:lt2>
      <a:accent1>
        <a:srgbClr val="C75D3C"/>
      </a:accent1>
      <a:accent2>
        <a:srgbClr val="2F6F6B"/>
      </a:accent2>
      <a:accent3>
        <a:srgbClr val="E8A33D"/>
      </a:accent3>
      <a:accent4>
        <a:srgbClr val="6B655C"/>
      </a:accent4>
      <a:accent5>
        <a:srgbClr val="8C3B24"/>
      </a:accent5>
      <a:accent6>
        <a:srgbClr val="17504C"/>
      </a:accent6>
      <a:hlink>
        <a:srgbClr val="C75D3C"/>
      </a:hlink>
      <a:folHlink>
        <a:srgbClr val="8C3B24"/>
      </a:folHlink>
    </a:clrScheme>
    <a:fontScheme name="Secret Inbox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855</Words>
  <Application>Microsoft Macintosh PowerPoint</Application>
  <PresentationFormat>Widescreen</PresentationFormat>
  <Paragraphs>178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Bookman Old Style</vt:lpstr>
      <vt:lpstr>Calibri</vt:lpstr>
      <vt:lpstr>Consolas</vt:lpstr>
      <vt:lpstr>Secret Inbox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Secret Inbox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Secret Inbox Feature &amp; System Overview</dc:title>
  <dc:subject>PptxGenJS Presentation</dc:subject>
  <dc:creator>Secret Inbox</dc:creator>
  <cp:lastModifiedBy>Vedanshu Daxesh Patel</cp:lastModifiedBy>
  <cp:revision>4</cp:revision>
  <dcterms:created xsi:type="dcterms:W3CDTF">2026-10-12T17:29:18Z</dcterms:created>
  <dcterms:modified xsi:type="dcterms:W3CDTF">2026-10-13T14:24:11Z</dcterms:modified>
</cp:coreProperties>
</file>